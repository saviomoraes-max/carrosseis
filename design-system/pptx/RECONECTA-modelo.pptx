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69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bg>
      <p:bgPr>
        <a:solidFill>
          <a:srgbClr val="2D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9000" y="1905000"/>
            <a:ext cx="10414000" cy="1854200"/>
          </a:xfrm>
        </p:spPr>
        <p:txBody>
          <a:bodyPr anchor="b" lIns="0" tIns="0" rIns="0" bIns="0" wrap="square"/>
          <a:lstStyle>
            <a:lvl1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900" b="0" cap="all" spc="-9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Título da apresentação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000" y="4038600"/>
            <a:ext cx="8128000" cy="889000"/>
          </a:xfrm>
        </p:spPr>
        <p:txBody>
          <a:bodyPr anchor="t" lIns="0" tIns="0" rIns="0" bIns="0" wrap="square"/>
          <a:lstStyle>
            <a:lvl1pPr algn="l" marL="0" inden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 spc="0">
                <a:solidFill>
                  <a:srgbClr val="ECECEC"/>
                </a:solidFill>
                <a:latin typeface="Figtree"/>
                <a:cs typeface="Figtree"/>
              </a:defRPr>
            </a:lvl1pPr>
          </a:lstStyle>
          <a:p>
            <a:r>
              <a:t>Uma linha que promete o que a pessoa leva daqui.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ista">
    <p:bg>
      <p:bgPr>
        <a:solidFill>
          <a:srgbClr val="2D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1333500"/>
            <a:ext cx="10414000" cy="1079500"/>
          </a:xfrm>
        </p:spPr>
        <p:txBody>
          <a:bodyPr anchor="t" lIns="0" tIns="0" rIns="0" bIns="0" wrap="square"/>
          <a:lstStyle>
            <a:lvl1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Título da 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2730500"/>
            <a:ext cx="10414000" cy="3175000"/>
          </a:xfrm>
        </p:spPr>
        <p:txBody>
          <a:bodyPr anchor="t" lIns="0" tIns="0" rIns="0" bIns="0" wrap="square"/>
          <a:lstStyle>
            <a:lvl1pPr algn="l" marL="0" indent="0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buNone/>
              <a:defRPr sz="1800" b="0" cap="none" spc="0">
                <a:solidFill>
                  <a:srgbClr val="ECECEC"/>
                </a:solidFill>
                <a:latin typeface="Figtree"/>
                <a:cs typeface="Figtree"/>
              </a:defRPr>
            </a:lvl1pPr>
          </a:lstStyle>
          <a:p>
            <a:r>
              <a:t>Primeiro item — máximo duas linhas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ertura de seção">
    <p:bg>
      <p:bgPr>
        <a:solidFill>
          <a:srgbClr val="6B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3048000"/>
            <a:ext cx="10414000" cy="1270000"/>
          </a:xfrm>
        </p:spPr>
        <p:txBody>
          <a:bodyPr anchor="t" lIns="0" tIns="0" rIns="0" bIns="0" wrap="square"/>
          <a:lstStyle>
            <a:lvl1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Nome da seção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000" y="2603500"/>
            <a:ext cx="10414000" cy="279400"/>
          </a:xfrm>
        </p:spPr>
        <p:txBody>
          <a:bodyPr anchor="t" lIns="0" tIns="0" rIns="0" bIns="0" wrap="square"/>
          <a:lstStyle>
            <a:lvl1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 cap="all" spc="176">
                <a:solidFill>
                  <a:srgbClr val="F5F5F5"/>
                </a:solidFill>
                <a:latin typeface="Inter"/>
                <a:cs typeface="Inter"/>
              </a:defRPr>
            </a:lvl1pPr>
          </a:lstStyle>
          <a:p>
            <a:r>
              <a:t>Parte 01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ado"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1524000"/>
            <a:ext cx="10414000" cy="1206500"/>
          </a:xfrm>
        </p:spPr>
        <p:txBody>
          <a:bodyPr anchor="t" lIns="0" tIns="0" rIns="0" bIns="0" wrap="square"/>
          <a:lstStyle>
            <a:lvl1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O que o número prova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9000" y="3048000"/>
            <a:ext cx="3302000" cy="1651000"/>
          </a:xfrm>
        </p:spPr>
        <p:txBody>
          <a:bodyPr anchor="ctr" lIns="0" tIns="0" rIns="0" bIns="0" wrap="square"/>
          <a:lstStyle>
            <a:lvl1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0" b="0" cap="none" spc="-200">
                <a:solidFill>
                  <a:srgbClr val="FF2222"/>
                </a:solidFill>
                <a:latin typeface="Archivo Black"/>
                <a:cs typeface="Archivo Black"/>
              </a:defRPr>
            </a:lvl1pPr>
          </a:lstStyle>
          <a:p>
            <a:r>
              <a:t>73%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3111500"/>
            <a:ext cx="6731000" cy="1651000"/>
          </a:xfrm>
        </p:spPr>
        <p:txBody>
          <a:bodyPr anchor="ctr" lIns="0" tIns="0" rIns="0" bIns="0" wrap="square"/>
          <a:lstStyle>
            <a:lvl1pPr algn="l"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 b="0" cap="none" spc="0">
                <a:solidFill>
                  <a:srgbClr val="ECECEC"/>
                </a:solidFill>
                <a:latin typeface="Figtree"/>
                <a:cs typeface="Figtree"/>
              </a:defRPr>
            </a:lvl1pPr>
          </a:lstStyle>
          <a:p>
            <a:r>
              <a:t>O que esse número quer dizer, em uma ou duas frases.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bg>
      <p:bgPr>
        <a:solidFill>
          <a:srgbClr val="2D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1333500"/>
            <a:ext cx="10414000" cy="1079500"/>
          </a:xfrm>
        </p:spPr>
        <p:txBody>
          <a:bodyPr anchor="t" lIns="0" tIns="0" rIns="0" bIns="0" wrap="square"/>
          <a:lstStyle>
            <a:lvl1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O contraste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000" y="2730500"/>
            <a:ext cx="4953000" cy="304800"/>
          </a:xfrm>
        </p:spPr>
        <p:txBody>
          <a:bodyPr anchor="t" lIns="0" tIns="0" rIns="0" bIns="0" wrap="square"/>
          <a:lstStyle>
            <a:lvl1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 cap="all" spc="176">
                <a:solidFill>
                  <a:srgbClr val="FF2222"/>
                </a:solidFill>
                <a:latin typeface="Inter"/>
                <a:cs typeface="Inter"/>
              </a:defRPr>
            </a:lvl1pPr>
          </a:lstStyle>
          <a:p>
            <a:r>
              <a:t>Antes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9000" y="3200400"/>
            <a:ext cx="4953000" cy="2413000"/>
          </a:xfrm>
        </p:spPr>
        <p:txBody>
          <a:bodyPr anchor="t" lIns="0" tIns="0" rIns="0" bIns="0" wrap="square"/>
          <a:lstStyle>
            <a:lvl1pPr algn="l" marL="0" indent="0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buNone/>
              <a:defRPr sz="1800" b="0" cap="none" spc="0">
                <a:solidFill>
                  <a:srgbClr val="ECECEC"/>
                </a:solidFill>
                <a:latin typeface="Figtree"/>
                <a:cs typeface="Figtree"/>
              </a:defRPr>
            </a:lvl1pPr>
          </a:lstStyle>
          <a:p>
            <a:r>
              <a:t>O que acontece hoje.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50000" y="2730500"/>
            <a:ext cx="4953000" cy="304800"/>
          </a:xfrm>
        </p:spPr>
        <p:txBody>
          <a:bodyPr anchor="t" lIns="0" tIns="0" rIns="0" bIns="0" wrap="square"/>
          <a:lstStyle>
            <a:lvl1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 cap="all" spc="176">
                <a:solidFill>
                  <a:srgbClr val="F2DDB6"/>
                </a:solidFill>
                <a:latin typeface="Inter"/>
                <a:cs typeface="Inter"/>
              </a:defRPr>
            </a:lvl1pPr>
          </a:lstStyle>
          <a:p>
            <a:r>
              <a:t>Depois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50000" y="3200400"/>
            <a:ext cx="4953000" cy="2413000"/>
          </a:xfrm>
        </p:spPr>
        <p:txBody>
          <a:bodyPr anchor="t" lIns="0" tIns="0" rIns="0" bIns="0" wrap="square"/>
          <a:lstStyle>
            <a:lvl1pPr algn="l" marL="0" indent="0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buNone/>
              <a:defRPr sz="1800" b="0" cap="none" spc="0">
                <a:solidFill>
                  <a:srgbClr val="ECECEC"/>
                </a:solidFill>
                <a:latin typeface="Figtree"/>
                <a:cs typeface="Figtree"/>
              </a:defRPr>
            </a:lvl1pPr>
          </a:lstStyle>
          <a:p>
            <a:r>
              <a:t>O que passa a acontecer.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firmação">
    <p:bg>
      <p:bgPr>
        <a:solidFill>
          <a:srgbClr val="2D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1778000"/>
            <a:ext cx="10414000" cy="3302000"/>
          </a:xfrm>
        </p:spPr>
        <p:txBody>
          <a:bodyPr anchor="ctr" lIns="0" tIns="0" rIns="0" bIns="0" wrap="square"/>
          <a:lstStyle>
            <a:lvl1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A frase que a pessoa tem que levar embora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ivre">
    <p:bg>
      <p:bgPr>
        <a:solidFill>
          <a:srgbClr val="2D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Encerramento"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222500"/>
            <a:ext cx="10414000" cy="1778000"/>
          </a:xfrm>
        </p:spPr>
        <p:txBody>
          <a:bodyPr anchor="b" lIns="0" tIns="0" rIns="0" bIns="0" wrap="square"/>
          <a:lstStyle>
            <a:lvl1pPr algn="ctr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A única coisa que fica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000" y="4318000"/>
            <a:ext cx="10414000" cy="635000"/>
          </a:xfrm>
        </p:spPr>
        <p:txBody>
          <a:bodyPr anchor="t" lIns="0" tIns="0" rIns="0" bIns="0" wrap="square"/>
          <a:lstStyle>
            <a:lvl1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1" cap="all" spc="154">
                <a:solidFill>
                  <a:srgbClr val="F5F5F5"/>
                </a:solidFill>
                <a:latin typeface="Inter"/>
                <a:cs typeface="Inter"/>
              </a:defRPr>
            </a:lvl1pPr>
          </a:lstStyle>
          <a:p>
            <a:r>
              <a:t>Próximo passo  /  →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oto"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 anchor="t" lIns="0" tIns="0" rIns="0" bIns="0"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4445000"/>
            <a:ext cx="10414000" cy="1016000"/>
          </a:xfrm>
        </p:spPr>
        <p:txBody>
          <a:bodyPr anchor="t" lIns="0" tIns="0" rIns="0" bIns="0" wrap="square"/>
          <a:lstStyle>
            <a:lvl1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800" b="0" cap="all" spc="-60">
                <a:solidFill>
                  <a:srgbClr val="FAF0DD"/>
                </a:solidFill>
                <a:latin typeface="Archivo Black"/>
                <a:cs typeface="Archivo Black"/>
              </a:defRPr>
            </a:lvl1pPr>
          </a:lstStyle>
          <a:p>
            <a:r>
              <a:t>Título sobre a foto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000" y="5588000"/>
            <a:ext cx="8382000" cy="635000"/>
          </a:xfrm>
        </p:spPr>
        <p:txBody>
          <a:bodyPr anchor="t" lIns="0" tIns="0" rIns="0" bIns="0" wrap="square"/>
          <a:lstStyle>
            <a:lvl1pPr algn="l" marL="0" indent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800" b="0" cap="none" spc="0">
                <a:solidFill>
                  <a:srgbClr val="ECECEC"/>
                </a:solidFill>
                <a:latin typeface="Figtree"/>
                <a:cs typeface="Figtree"/>
              </a:defRPr>
            </a:lvl1pPr>
          </a:lstStyle>
          <a:p>
            <a:r>
              <a:t>Uma linha de apoio.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AGENDA DO MILHÃO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Três pacientes novos por semana. Quatro recorrências. O resto é consequência.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DIAGNÓSTICO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PARTE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TRAVA A AGENDA NÃO É CAPTAÇÃO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A CONTA VAZA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73%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das doutoras que travam em 70k não têm problema de leads. Têm problema de retorno: o paciente some depois do primeiro procedimento.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TRÊS ENGRENAGENS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Primeira consulta que já agenda a próxima</a:t>
            </a:r>
          </a:p>
          <a:p>
            <a:r>
              <a:t>Retorno tratado como parte do plano, não como recaída</a:t>
            </a:r>
          </a:p>
          <a:p>
            <a:r>
              <a:t>Follow-up que chega antes do paciente sumir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A AGENDA MUDA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 doutora vende o procedimento e espera o paciente voltar sozinho.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 doutora vende o plano e o retorno já sai agendado da cadeira.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ISSO ACONTECE NA CADEIRA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Não no anúncio.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COMECE PELO RETORNO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PRÓXIMO PASSO  /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0E0E"/>
      </a:dk1>
      <a:lt1>
        <a:srgbClr val="FAF0DD"/>
      </a:lt1>
      <a:dk2>
        <a:srgbClr val="2D0000"/>
      </a:dk2>
      <a:lt2>
        <a:srgbClr val="ECECEC"/>
      </a:lt2>
      <a:accent1>
        <a:srgbClr val="FF2222"/>
      </a:accent1>
      <a:accent2>
        <a:srgbClr val="F2DDB6"/>
      </a:accent2>
      <a:accent3>
        <a:srgbClr val="6B0F0F"/>
      </a:accent3>
      <a:accent4>
        <a:srgbClr val="FAF0DD"/>
      </a:accent4>
      <a:accent5>
        <a:srgbClr val="ECECEC"/>
      </a:accent5>
      <a:accent6>
        <a:srgbClr val="F5F5F5"/>
      </a:accent6>
      <a:hlink>
        <a:srgbClr val="F2DDB6"/>
      </a:hlink>
      <a:folHlink>
        <a:srgbClr val="F2DDB6"/>
      </a:folHlink>
    </a:clrScheme>
    <a:fontScheme name="Office">
      <a:majorFont>
        <a:latin typeface="Archivo Bla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